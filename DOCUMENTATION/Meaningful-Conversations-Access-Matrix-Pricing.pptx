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B7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7272"/>
                </a:solidFill>
                <a:latin typeface="Calibri"/>
              </a:defRPr>
            </a:pPr>
            <a:r>
              <a:t>Meaningful Conversations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B7280"/>
                </a:solidFill>
                <a:latin typeface="Calibri"/>
              </a:defRPr>
            </a:pPr>
            <a:r>
              <a:t>User Access Matrix &amp; Preismodell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280"/>
                </a:solidFill>
                <a:latin typeface="Calibri"/>
              </a:defRPr>
            </a:pPr>
            <a:r>
              <a:t>by manualmode.at  •  v1.8.9  •  Februar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B7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7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Feature Access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D8D8"/>
                </a:solidFill>
                <a:latin typeface="Calibri"/>
              </a:defRPr>
            </a:pPr>
            <a:r>
              <a:t>Plattform-Features &amp; Funktionen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051560"/>
          <a:ext cx="1143000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1760220"/>
                <a:gridCol w="1760220"/>
                <a:gridCol w="1760220"/>
                <a:gridCol w="1760220"/>
              </a:tblGrid>
              <a:tr h="353568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Guest</a:t>
                      </a:r>
                      <a:br/>
                      <a:r>
                        <a:t>(kostenlos)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Registered</a:t>
                      </a:r>
                      <a:br/>
                      <a:r>
                        <a:t>(3,90 €/Monat)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Premium</a:t>
                      </a:r>
                      <a:br/>
                      <a:r>
                        <a:t>(9,90 €/Monat)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Client</a:t>
                      </a:r>
                      <a:br/>
                      <a:r>
                        <a:t>(durch Coach)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Core Functions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Chat &amp; Voice (Web Speech API)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Server TTS (High Quality)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Life Context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Lokal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Cloud E2EE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Cloud E2EE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Cloud E2EE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Cloud-Sync &amp; Geräteübergreifend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Persönlichkeitsprofil (OCEAN)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Persönlichkeitsprofil (Riemann &amp; SD)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Narrative Signature &amp; PDF-Export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DPC (Dynamic Prompt Composition)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DPFL (Adaptive Learning)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Comfort Check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Gamification (XP, Levels)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Lokal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Kalenderexport (.ics)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  <a:tr h="35356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Krisenreaktion (Helplines)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7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Feature Access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D8D8"/>
                </a:solidFill>
                <a:latin typeface="Calibri"/>
              </a:defRPr>
            </a:pPr>
            <a:r>
              <a:t>Coaching-Bots &amp; exklusive Features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051560"/>
          <a:ext cx="114300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1760220"/>
                <a:gridCol w="1760220"/>
                <a:gridCol w="1760220"/>
                <a:gridCol w="1760220"/>
              </a:tblGrid>
              <a:tr h="333487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Guest</a:t>
                      </a:r>
                      <a:br/>
                      <a:r>
                        <a:t>(kostenlos)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Registered</a:t>
                      </a:r>
                      <a:br/>
                      <a:r>
                        <a:t>(3,90 €/Monat)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Premium</a:t>
                      </a:r>
                      <a:br/>
                      <a:r>
                        <a:t>(9,90 €/Monat)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Client</a:t>
                      </a:r>
                      <a:br/>
                      <a:r>
                        <a:t>(durch Coach)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CD7F32"/>
                          </a:solidFill>
                          <a:latin typeface="Calibri"/>
                        </a:defRPr>
                      </a:pPr>
                      <a:r>
                        <a:t>Management &amp; Kommunikation</a:t>
                      </a:r>
                    </a:p>
                  </a:txBody>
                  <a:tcPr anchor="ctr" marL="45720" marR="45720" marT="27432" marB="27432">
                    <a:solidFill>
                      <a:srgbClr val="FDF0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DF0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DF0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DF0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DF0E0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Nobody (GPS, Problemlösung)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Gloria Interview (Strukturierte Interviews)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Gloria (Onboarding)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475669"/>
                          </a:solidFill>
                          <a:latin typeface="Calibri"/>
                        </a:defRPr>
                      </a:pPr>
                      <a:r>
                        <a:t>Coaching Bots</a:t>
                      </a:r>
                    </a:p>
                  </a:txBody>
                  <a:tcPr anchor="ctr" marL="45720" marR="45720" marT="27432" marB="27432">
                    <a:solidFill>
                      <a:srgbClr val="DBE2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DBE2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DBE2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DBE2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DBE2EF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Max (Ambitioniert)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Ava (Strategisch)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Kenji (Stoisch)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Chloe (Strukturierte Reflexion)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D97706"/>
                          </a:solidFill>
                          <a:latin typeface="Calibri"/>
                        </a:defRPr>
                      </a:pPr>
                      <a:r>
                        <a:t>Exklusiv für Klienten</a:t>
                      </a:r>
                    </a:p>
                  </a:txBody>
                  <a:tcPr anchor="ctr" marL="45720" marR="45720" marT="27432" marB="27432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FFBEB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Rob (Mentale Fitness)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Victor (Systemisch)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Premium+ Features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Transcript Evaluation &amp; PDF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Bot-Empfehlungen (in Evaluation)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  <a:tr h="33348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PEP Lösungsblockaden (Dr. Bohne)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BBBBB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7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Preismodell — 4 Stufen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0867" y="1188720"/>
            <a:ext cx="2606040" cy="384048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8027" y="132588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6B7280"/>
                </a:solidFill>
                <a:latin typeface="Calibri"/>
              </a:defRPr>
            </a:pPr>
            <a:r>
              <a:t>Guest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8027" y="16916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937"/>
                </a:solidFill>
                <a:latin typeface="Calibri"/>
              </a:defRPr>
            </a:pPr>
            <a:r>
              <a:t>Kostenlos</a:t>
            </a:r>
          </a:p>
        </p:txBody>
      </p:sp>
      <p:sp>
        <p:nvSpPr>
          <p:cNvPr id="7" name="Rectangle 6"/>
          <p:cNvSpPr/>
          <p:nvPr/>
        </p:nvSpPr>
        <p:spPr>
          <a:xfrm>
            <a:off x="815187" y="2240280"/>
            <a:ext cx="2057400" cy="127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747" y="237744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937"/>
                </a:solidFill>
                <a:latin typeface="Calibri"/>
              </a:defRPr>
            </a:pPr>
            <a:r>
              <a:t>✓ Nobody, Gloria, Max, 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3747" y="2679192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937"/>
                </a:solidFill>
                <a:latin typeface="Calibri"/>
              </a:defRPr>
            </a:pPr>
            <a:r>
              <a:t>✓ Chat &amp; Voice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747" y="2980944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937"/>
                </a:solidFill>
                <a:latin typeface="Calibri"/>
              </a:defRPr>
            </a:pPr>
            <a:r>
              <a:t>✓ Life Context (lokal)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747" y="3282696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937"/>
                </a:solidFill>
                <a:latin typeface="Calibri"/>
              </a:defRPr>
            </a:pPr>
            <a:r>
              <a:t>✓ Kalenderexport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027" y="46177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Calibri"/>
              </a:defRPr>
            </a:pPr>
            <a:r>
              <a:t>Daten nur im Browser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75507" y="1188720"/>
            <a:ext cx="2606040" cy="3840480"/>
          </a:xfrm>
          <a:prstGeom prst="roundRect">
            <a:avLst>
              <a:gd name="adj" fmla="val 10000"/>
            </a:avLst>
          </a:prstGeom>
          <a:solidFill>
            <a:srgbClr val="E0F2F1"/>
          </a:solidFill>
          <a:ln w="12700">
            <a:solidFill>
              <a:srgbClr val="1B72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2667" y="132588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7272"/>
                </a:solidFill>
                <a:latin typeface="Calibri"/>
              </a:defRPr>
            </a:pPr>
            <a:r>
              <a:t>Registered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2667" y="16916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937"/>
                </a:solidFill>
                <a:latin typeface="Calibri"/>
              </a:defRPr>
            </a:pPr>
            <a:r>
              <a:t>3,90 €/Monat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2667" y="1965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Calibri"/>
              </a:defRPr>
            </a:pPr>
            <a:r>
              <a:t>oder 14,90 € einmalig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49827" y="2240280"/>
            <a:ext cx="2057400" cy="12700"/>
          </a:xfrm>
          <a:prstGeom prst="rect">
            <a:avLst/>
          </a:prstGeom>
          <a:solidFill>
            <a:srgbClr val="1B7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58387" y="237744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B7272"/>
                </a:solidFill>
                <a:latin typeface="Calibri"/>
              </a:defRPr>
            </a:pPr>
            <a:r>
              <a:t>Alles aus Guest, plus: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8387" y="2679192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937"/>
                </a:solidFill>
                <a:latin typeface="Calibri"/>
              </a:defRPr>
            </a:pPr>
            <a:r>
              <a:t>✓ Gloria Interview (Transkript)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8387" y="2980944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937"/>
                </a:solidFill>
                <a:latin typeface="Calibri"/>
              </a:defRPr>
            </a:pPr>
            <a:r>
              <a:t>✓ Cloud-Sync &amp; E2EE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8387" y="3282696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937"/>
                </a:solidFill>
                <a:latin typeface="Calibri"/>
              </a:defRPr>
            </a:pPr>
            <a:r>
              <a:t>✓ Server-TTS (High Quality)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58387" y="3584448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937"/>
                </a:solidFill>
                <a:latin typeface="Calibri"/>
              </a:defRPr>
            </a:pPr>
            <a:r>
              <a:t>✓ OCEAN-Profil, Signature, DPC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12667" y="46177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Calibri"/>
              </a:defRPr>
            </a:pPr>
            <a:r>
              <a:t>Kein Riemann/SD, DPFL, Kenji/Chloe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7" y="1188720"/>
            <a:ext cx="2606040" cy="3840480"/>
          </a:xfrm>
          <a:prstGeom prst="roundRect">
            <a:avLst>
              <a:gd name="adj" fmla="val 10000"/>
            </a:avLst>
          </a:prstGeom>
          <a:solidFill>
            <a:srgbClr val="E8ECF4"/>
          </a:solidFill>
          <a:ln w="12700">
            <a:solidFill>
              <a:srgbClr val="475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47307" y="132588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75669"/>
                </a:solidFill>
                <a:latin typeface="Calibri"/>
              </a:defRPr>
            </a:pPr>
            <a:r>
              <a:t>Premium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7307" y="16916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937"/>
                </a:solidFill>
                <a:latin typeface="Calibri"/>
              </a:defRPr>
            </a:pPr>
            <a:r>
              <a:t>9,90 €/Monat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7307" y="1965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Calibri"/>
              </a:defRPr>
            </a:pPr>
            <a:r>
              <a:t>24,90 €/3M · 79,90 €/Jahr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84467" y="2240280"/>
            <a:ext cx="2057400" cy="12700"/>
          </a:xfrm>
          <a:prstGeom prst="rect">
            <a:avLst/>
          </a:prstGeom>
          <a:solidFill>
            <a:srgbClr val="475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3027" y="237744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75669"/>
                </a:solidFill>
                <a:latin typeface="Calibri"/>
              </a:defRPr>
            </a:pPr>
            <a:r>
              <a:t>Alles aus Registered, plus: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3027" y="2679192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937"/>
                </a:solidFill>
                <a:latin typeface="Calibri"/>
              </a:defRPr>
            </a:pPr>
            <a:r>
              <a:t>✓ Kenji &amp; Chloe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93027" y="2980944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937"/>
                </a:solidFill>
                <a:latin typeface="Calibri"/>
              </a:defRPr>
            </a:pPr>
            <a:r>
              <a:t>✓ Riemann-Thomann &amp; Spiral Dynamics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3027" y="3282696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937"/>
                </a:solidFill>
                <a:latin typeface="Calibri"/>
              </a:defRPr>
            </a:pPr>
            <a:r>
              <a:t>✓ DPFL &amp; Comfort Check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3027" y="3584448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937"/>
                </a:solidFill>
                <a:latin typeface="Calibri"/>
              </a:defRPr>
            </a:pPr>
            <a:r>
              <a:t>✓ Transcript Evaluation (PDF &amp; Bots)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7307" y="46177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Calibri"/>
              </a:defRPr>
            </a:pPr>
            <a:r>
              <a:t>Kein Rob/Victor, kein PEP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44787" y="1188720"/>
            <a:ext cx="2606040" cy="384048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81947" y="132588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97706"/>
                </a:solidFill>
                <a:latin typeface="Calibri"/>
              </a:defRPr>
            </a:pPr>
            <a:r>
              <a:t>Client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1947" y="16916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937"/>
                </a:solidFill>
                <a:latin typeface="Calibri"/>
              </a:defRPr>
            </a:pPr>
            <a:r>
              <a:t>Durch Coach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1947" y="1965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Calibri"/>
              </a:defRPr>
            </a:pPr>
            <a:r>
              <a:t>Nicht käuflich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319107" y="2240280"/>
            <a:ext cx="2057400" cy="127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27667" y="237744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97706"/>
                </a:solidFill>
                <a:latin typeface="Calibri"/>
              </a:defRPr>
            </a:pPr>
            <a:r>
              <a:t>Alles aus Premium, plus: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27667" y="2679192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937"/>
                </a:solidFill>
                <a:latin typeface="Calibri"/>
              </a:defRPr>
            </a:pPr>
            <a:r>
              <a:t>✓ Rob &amp; Victor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27667" y="2980944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937"/>
                </a:solidFill>
                <a:latin typeface="Calibri"/>
              </a:defRPr>
            </a:pPr>
            <a:r>
              <a:t>✓ PEP Lösungsblockaden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81947" y="46177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Calibri"/>
              </a:defRPr>
            </a:pPr>
            <a:r>
              <a:t>Vollzugang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2964027" y="5303520"/>
            <a:ext cx="457200" cy="274320"/>
          </a:xfrm>
          <a:prstGeom prst="rightArrow">
            <a:avLst/>
          </a:prstGeom>
          <a:solidFill>
            <a:srgbClr val="1B7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ight Arrow 44"/>
          <p:cNvSpPr/>
          <p:nvPr/>
        </p:nvSpPr>
        <p:spPr>
          <a:xfrm>
            <a:off x="5798667" y="5303520"/>
            <a:ext cx="457200" cy="274320"/>
          </a:xfrm>
          <a:prstGeom prst="rightArrow">
            <a:avLst/>
          </a:prstGeom>
          <a:solidFill>
            <a:srgbClr val="1B7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ight Arrow 45"/>
          <p:cNvSpPr/>
          <p:nvPr/>
        </p:nvSpPr>
        <p:spPr>
          <a:xfrm>
            <a:off x="8633307" y="5303520"/>
            <a:ext cx="457200" cy="274320"/>
          </a:xfrm>
          <a:prstGeom prst="rightArrow">
            <a:avLst/>
          </a:prstGeom>
          <a:solidFill>
            <a:srgbClr val="1B7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5623559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Guest → Registered → Premium → Client  |  Natürlicher Upgrade-Pfad durch erlebten Mehrwert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7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Bot-Kategorien — Bronze · Silver · Gold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4846320"/>
          </a:xfrm>
          <a:prstGeom prst="roundRect">
            <a:avLst>
              <a:gd name="adj" fmla="val 10000"/>
            </a:avLst>
          </a:prstGeom>
          <a:solidFill>
            <a:srgbClr val="FDF0E0"/>
          </a:solidFill>
          <a:ln w="12700">
            <a:solidFill>
              <a:srgbClr val="CD7F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887" y="1371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D7F32"/>
                </a:solidFill>
                <a:latin typeface="Calibri"/>
              </a:defRPr>
            </a:pPr>
            <a:r>
              <a:t>Management &amp; Kommunikation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887" y="17373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Calibri"/>
              </a:defRPr>
            </a:pPr>
            <a:r>
              <a:t>Nobody &amp; Gloria: Guest  |  Gloria Interview: Registered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047" y="2103120"/>
            <a:ext cx="2926079" cy="12700"/>
          </a:xfrm>
          <a:prstGeom prst="rect">
            <a:avLst/>
          </a:prstGeom>
          <a:solidFill>
            <a:srgbClr val="CD7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Calibri"/>
              </a:defRPr>
            </a:pPr>
            <a:r>
              <a:t>Nobody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57860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GPS-Ansatz, Problemlösung, Kommunikationsanalyse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1546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Calibri"/>
              </a:defRPr>
            </a:pPr>
            <a:r>
              <a:t>Gloria Interview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344728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Strukturierte Interviews mit Transkript-Export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0233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Calibri"/>
              </a:defRPr>
            </a:pPr>
            <a:r>
              <a:t>Gloria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327" y="431596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Onboarding &amp; Erstgespräch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8487" y="1188720"/>
            <a:ext cx="3474720" cy="4846320"/>
          </a:xfrm>
          <a:prstGeom prst="roundRect">
            <a:avLst>
              <a:gd name="adj" fmla="val 10000"/>
            </a:avLst>
          </a:prstGeom>
          <a:solidFill>
            <a:srgbClr val="E8ECF4"/>
          </a:solidFill>
          <a:ln w="12700">
            <a:solidFill>
              <a:srgbClr val="475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5647" y="1371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75669"/>
                </a:solidFill>
                <a:latin typeface="Calibri"/>
              </a:defRPr>
            </a:pPr>
            <a:r>
              <a:t>Coaching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5647" y="17373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Calibri"/>
              </a:defRPr>
            </a:pPr>
            <a:r>
              <a:t>Max &amp; Ava: Guest  |  Kenji &amp; Chloe: Premium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2807" y="2103120"/>
            <a:ext cx="2926079" cy="12700"/>
          </a:xfrm>
          <a:prstGeom prst="rect">
            <a:avLst/>
          </a:prstGeom>
          <a:solidFill>
            <a:srgbClr val="475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7087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Calibri"/>
              </a:defRPr>
            </a:pPr>
            <a:r>
              <a:t>Max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087" y="257860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Ambitioniert, motivierend, neugierig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7087" y="31546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Calibri"/>
              </a:defRPr>
            </a:pPr>
            <a:r>
              <a:t>Ava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7087" y="344728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Strategisch, entscheidend, organisiert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7087" y="40233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Calibri"/>
              </a:defRPr>
            </a:pPr>
            <a:r>
              <a:t>Kenji 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087" y="431596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Stoisch, philosophisch, weise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7087" y="48920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Calibri"/>
              </a:defRPr>
            </a:pPr>
            <a:r>
              <a:t>Chloe 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7087" y="518464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Strukturierte Reflexion, CBT-basiert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53247" y="1188720"/>
            <a:ext cx="3474720" cy="484632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90407" y="1371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Calibri"/>
              </a:defRPr>
            </a:pPr>
            <a:r>
              <a:t>Exklusiv für Klienten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0407" y="17373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Calibri"/>
              </a:defRPr>
            </a:pPr>
            <a:r>
              <a:t>Nur mit manualmode.at Coaching-Beziehung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27567" y="2103120"/>
            <a:ext cx="2926079" cy="127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81847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Calibri"/>
              </a:defRPr>
            </a:pPr>
            <a:r>
              <a:t>Rob 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1847" y="257860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Mentale Fitness, empathisch, achtsam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1847" y="31546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Calibri"/>
              </a:defRPr>
            </a:pPr>
            <a:r>
              <a:t>Victor 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1847" y="344728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Systemisch, analytisch, neutral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🔒 = Erfordert höheren Zugang  |  Einzelne Premium-Bots können für 4,90 € permanent freigeschaltet werden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7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Upgrade-Pfade &amp; Rabatte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D8D8"/>
                </a:solidFill>
                <a:latin typeface="Calibri"/>
              </a:defRPr>
            </a:pPr>
            <a:r>
              <a:t>Frühere Investitionen werden immer anerkannt — kein Buyer's Remorse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05156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1828800"/>
                <a:gridCol w="1828800"/>
                <a:gridCol w="3200400"/>
              </a:tblGrid>
              <a:tr h="5588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Ausgangslage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1-Monats-Pass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3-Monats-Pass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1-Jahres-Pass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Rabatt-Modell</a:t>
                      </a:r>
                    </a:p>
                  </a:txBody>
                  <a:tcPr anchor="ctr" marL="45720" marR="45720" marT="27432" marB="27432">
                    <a:solidFill>
                      <a:srgbClr val="1B7272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6B7280"/>
                          </a:solidFill>
                          <a:latin typeface="Calibri"/>
                        </a:defRPr>
                      </a:pPr>
                      <a:r>
                        <a:t>Normalpreis</a:t>
                      </a:r>
                    </a:p>
                  </a:txBody>
                  <a:tcPr anchor="ctr" marL="45720" marR="45720" marT="27432" marB="27432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6B7280"/>
                          </a:solidFill>
                          <a:latin typeface="Calibri"/>
                        </a:defRPr>
                      </a:pPr>
                      <a:r>
                        <a:t>9,90 €</a:t>
                      </a:r>
                    </a:p>
                  </a:txBody>
                  <a:tcPr anchor="ctr" marL="45720" marR="45720" marT="27432" marB="27432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6B7280"/>
                          </a:solidFill>
                          <a:latin typeface="Calibri"/>
                        </a:defRPr>
                      </a:pPr>
                      <a:r>
                        <a:t>24,90 €</a:t>
                      </a:r>
                    </a:p>
                  </a:txBody>
                  <a:tcPr anchor="ctr" marL="45720" marR="45720" marT="27432" marB="27432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6B7280"/>
                          </a:solidFill>
                          <a:latin typeface="Calibri"/>
                        </a:defRPr>
                      </a:pPr>
                      <a:r>
                        <a:t>79,90 €</a:t>
                      </a:r>
                    </a:p>
                  </a:txBody>
                  <a:tcPr anchor="ctr" marL="45720" marR="45720" marT="27432" marB="27432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6B728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45720" marR="45720" marT="27432" marB="27432">
                    <a:solidFill>
                      <a:srgbClr val="F9FAFB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Registered Monatsabo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9,90 €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24,90 €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79,90 €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6B7280"/>
                          </a:solidFill>
                          <a:latin typeface="Calibri"/>
                        </a:defRPr>
                      </a:pPr>
                      <a:r>
                        <a:t>Pro-rata Restmonat als Guthaben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Registered Lifetime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7,90 €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18,90 €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59,90 €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6B7280"/>
                          </a:solidFill>
                          <a:latin typeface="Calibri"/>
                        </a:defRPr>
                      </a:pPr>
                      <a:r>
                        <a:t>~20–25% Loyalty-Rabatt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 Bot-Unlock (4,90 €)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5,00 €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20,00 €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75,00 €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6B7280"/>
                          </a:solidFill>
                          <a:latin typeface="Calibri"/>
                        </a:defRPr>
                      </a:pPr>
                      <a:r>
                        <a:t>4,90 € Anrechnung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 Bot-Unlocks (9,80 €)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0,10 €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15,10 €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70,10 €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6B7280"/>
                          </a:solidFill>
                          <a:latin typeface="Calibri"/>
                        </a:defRPr>
                      </a:pPr>
                      <a:r>
                        <a:t>9,80 € Anrechnung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Lifetime + 1 Bot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3,00 €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14,00 €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55,00 €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6B7280"/>
                          </a:solidFill>
                          <a:latin typeface="Calibri"/>
                        </a:defRPr>
                      </a:pPr>
                      <a:r>
                        <a:t>Loyalty + Bot kumuliert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Lifetime + 2 Bots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0,10 €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9,10 €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50,10 €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6B7280"/>
                          </a:solidFill>
                          <a:latin typeface="Calibri"/>
                        </a:defRPr>
                      </a:pPr>
                      <a:r>
                        <a:t>Loyalty + Bots kumuliert</a:t>
                      </a:r>
                    </a:p>
                  </a:txBody>
                  <a:tcPr anchor="ctr" marL="45720" marR="45720" marT="27432" marB="27432">
                    <a:solidFill>
                      <a:srgbClr val="F3F4F6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Guest → Premium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9,90 €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24,90 €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79,90 €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6B7280"/>
                          </a:solidFill>
                          <a:latin typeface="Calibri"/>
                        </a:defRPr>
                      </a:pPr>
                      <a:r>
                        <a:t>Kein Rabatt (enthält Registered)</a:t>
                      </a:r>
                    </a:p>
                  </a:txBody>
                  <a:tcPr anchor="ctr"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989320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✓ Fallback-Sicherheit: Registered Lifetime bleibt aktiv wenn Premium abläuft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45352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✓ Kumulierbar: Loyalty-Rabatt und Bot-Guthaben stapeln sich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01383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✓ Technisch umsetzbar: PayPal Custom IDs erlauben Tracking früherer Käufe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