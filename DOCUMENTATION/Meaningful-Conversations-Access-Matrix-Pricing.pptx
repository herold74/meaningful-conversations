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B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7272"/>
                </a:solidFill>
                <a:latin typeface="Calibri"/>
              </a:defRPr>
            </a:pPr>
            <a:r>
              <a:t>Meaningful Conversations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Calibri"/>
              </a:defRPr>
            </a:pPr>
            <a:r>
              <a:t>User Access Matrix &amp; Preismodell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by manualmode.at  •  v1.8.9  •  Februar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Feature Access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D8D8"/>
                </a:solidFill>
                <a:latin typeface="Calibri"/>
              </a:defRPr>
            </a:pPr>
            <a:r>
              <a:t>Plattform-Features &amp; Funktionen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5156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1760220"/>
                <a:gridCol w="1760220"/>
                <a:gridCol w="1760220"/>
                <a:gridCol w="1760220"/>
              </a:tblGrid>
              <a:tr h="35356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 marL="45720" marR="45720" marT="27432" marB="27432">
                    <a:solidFill>
                      <a:srgbClr val="1B72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Guest</a:t>
                      </a:r>
                      <a:br/>
                      <a:r>
                        <a:t>(kostenlos)</a:t>
                      </a:r>
                    </a:p>
                  </a:txBody>
                  <a:tcPr anchor="ctr" marL="45720" marR="45720" marT="27432" marB="27432">
                    <a:solidFill>
                      <a:srgbClr val="1B72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Registered</a:t>
                      </a:r>
                      <a:br/>
                      <a:r>
                        <a:t>(3,90 €/Monat)</a:t>
                      </a:r>
                    </a:p>
                  </a:txBody>
                  <a:tcPr anchor="ctr" marL="45720" marR="45720" marT="27432" marB="27432">
                    <a:solidFill>
                      <a:srgbClr val="1B72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Premium</a:t>
                      </a:r>
                      <a:br/>
                      <a:r>
                        <a:t>(9,90 €/Monat)</a:t>
                      </a:r>
                    </a:p>
                  </a:txBody>
                  <a:tcPr anchor="ctr" marL="45720" marR="45720" marT="27432" marB="27432">
                    <a:solidFill>
                      <a:srgbClr val="1B72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Client</a:t>
                      </a:r>
                      <a:br/>
                      <a:r>
                        <a:t>(durch Coach)</a:t>
                      </a:r>
                    </a:p>
                  </a:txBody>
                  <a:tcPr anchor="ctr" marL="45720" marR="45720" marT="27432" marB="27432">
                    <a:solidFill>
                      <a:srgbClr val="1B7272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Core Functions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Chat &amp; Voice (Web Speech API)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Server TTS (High Quality)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Life Context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Lokal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Cloud E2EE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Cloud E2EE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Cloud E2EE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Cloud-Sync &amp; Geräteübergreifend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Persönlichkeitsprofil (OCEAN)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Persönlichkeitsprofil (Riemann &amp; SD)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Narrative Signature &amp; PDF-Export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DPC (Dynamic Prompt Composition)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DPFL (Adaptive Learning)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Comfort Check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Gamification (XP, Levels)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Lokal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Kalenderexport (.ics)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Krisenreaktion (Helplines)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Feature Access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D8D8"/>
                </a:solidFill>
                <a:latin typeface="Calibri"/>
              </a:defRPr>
            </a:pPr>
            <a:r>
              <a:t>Coaching-Bots &amp; exklusive Features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51560"/>
          <a:ext cx="11430000" cy="565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1760220"/>
                <a:gridCol w="1760220"/>
                <a:gridCol w="1760220"/>
                <a:gridCol w="1760220"/>
              </a:tblGrid>
              <a:tr h="35318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 marL="45720" marR="45720" marT="27432" marB="27432">
                    <a:solidFill>
                      <a:srgbClr val="1B72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Guest</a:t>
                      </a:r>
                      <a:br/>
                      <a:r>
                        <a:t>(kostenlos)</a:t>
                      </a:r>
                    </a:p>
                  </a:txBody>
                  <a:tcPr anchor="ctr" marL="45720" marR="45720" marT="27432" marB="27432">
                    <a:solidFill>
                      <a:srgbClr val="1B72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Registered</a:t>
                      </a:r>
                      <a:br/>
                      <a:r>
                        <a:t>(3,90 €/Monat)</a:t>
                      </a:r>
                    </a:p>
                  </a:txBody>
                  <a:tcPr anchor="ctr" marL="45720" marR="45720" marT="27432" marB="27432">
                    <a:solidFill>
                      <a:srgbClr val="1B72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Premium</a:t>
                      </a:r>
                      <a:br/>
                      <a:r>
                        <a:t>(9,90 €/Monat)</a:t>
                      </a:r>
                    </a:p>
                  </a:txBody>
                  <a:tcPr anchor="ctr" marL="45720" marR="45720" marT="27432" marB="27432">
                    <a:solidFill>
                      <a:srgbClr val="1B72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Client</a:t>
                      </a:r>
                      <a:br/>
                      <a:r>
                        <a:t>(durch Coach)</a:t>
                      </a:r>
                    </a:p>
                  </a:txBody>
                  <a:tcPr anchor="ctr" marL="45720" marR="45720" marT="27432" marB="27432">
                    <a:solidFill>
                      <a:srgbClr val="1B7272"/>
                    </a:solidFill>
                  </a:tcPr>
                </a:tc>
              </a:tr>
              <a:tr h="35318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CD7F32"/>
                          </a:solidFill>
                          <a:latin typeface="Calibri"/>
                        </a:defRPr>
                      </a:pPr>
                      <a:r>
                        <a:t>Management &amp; Kommunikation</a:t>
                      </a:r>
                    </a:p>
                  </a:txBody>
                  <a:tcPr anchor="ctr" marL="45720" marR="45720" marT="27432" marB="27432">
                    <a:solidFill>
                      <a:srgbClr val="FDF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DF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DF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DF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DF0E0"/>
                    </a:solidFill>
                  </a:tcPr>
                </a:tc>
              </a:tr>
              <a:tr h="35318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Nobody (GPS, Problemlösung)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</a:tr>
              <a:tr h="35318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Gloria (Onboarding)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35318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75669"/>
                          </a:solidFill>
                          <a:latin typeface="Calibri"/>
                        </a:defRPr>
                      </a:pPr>
                      <a:r>
                        <a:t>Coaching Bots</a:t>
                      </a:r>
                    </a:p>
                  </a:txBody>
                  <a:tcPr anchor="ctr" marL="45720" marR="45720" marT="27432" marB="27432">
                    <a:solidFill>
                      <a:srgbClr val="DBE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DBE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DBE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DBE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DBE2EF"/>
                    </a:solidFill>
                  </a:tcPr>
                </a:tc>
              </a:tr>
              <a:tr h="35318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Max (Ambitioniert)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35318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Ava (Strategisch)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</a:tr>
              <a:tr h="35318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Kenji (Stoisch)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35318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Chloe (Strukturierte Reflexion)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</a:tr>
              <a:tr h="35318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Exklusiv für Klienten</a:t>
                      </a:r>
                    </a:p>
                  </a:txBody>
                  <a:tcPr anchor="ctr" marL="45720" marR="45720" marT="27432" marB="27432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BEB"/>
                    </a:solidFill>
                  </a:tcPr>
                </a:tc>
              </a:tr>
              <a:tr h="35318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Rob (Mentale Fitness)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</a:tr>
              <a:tr h="35318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Victor (Systemisch)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35318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Exklusive Client-Features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</a:tr>
              <a:tr h="35318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Transcript Evaluation &amp; PDF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35318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Bot-Empfehlungen (in Evaluation)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3F4F6"/>
                    </a:solidFill>
                  </a:tcPr>
                </a:tc>
              </a:tr>
              <a:tr h="35318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PEP Lösungsblockaden (Dr. Bohne)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Preismodell — 4 Stufen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867" y="118872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8027" y="1325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7280"/>
                </a:solidFill>
                <a:latin typeface="Calibri"/>
              </a:defRPr>
            </a:pPr>
            <a:r>
              <a:t>Guest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8027" y="16916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Calibri"/>
              </a:defRPr>
            </a:pPr>
            <a:r>
              <a:t>Kostenlos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5187" y="2240280"/>
            <a:ext cx="2057400" cy="127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✓ Nobody, Gloria, Max, 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26791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✓ Chat &amp; 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298094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✓ Life Context (lokal)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747" y="328269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✓ Kalenderexport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27" y="46177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Calibri"/>
              </a:defRPr>
            </a:pPr>
            <a:r>
              <a:t>Daten nur im Browser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5507" y="118872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 w="12700">
            <a:solidFill>
              <a:srgbClr val="1B7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2667" y="1325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7272"/>
                </a:solidFill>
                <a:latin typeface="Calibri"/>
              </a:defRPr>
            </a:pPr>
            <a:r>
              <a:t>Registered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2667" y="16916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Calibri"/>
              </a:defRPr>
            </a:pPr>
            <a:r>
              <a:t>3,90 €/Monat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2667" y="19659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oder 14,90 € einmalig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49827" y="2240280"/>
            <a:ext cx="2057400" cy="12700"/>
          </a:xfrm>
          <a:prstGeom prst="rect">
            <a:avLst/>
          </a:prstGeom>
          <a:solidFill>
            <a:srgbClr val="1B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8387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7272"/>
                </a:solidFill>
                <a:latin typeface="Calibri"/>
              </a:defRPr>
            </a:pPr>
            <a:r>
              <a:t>Alles aus Guest, plus: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8387" y="26791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✓ Cloud-Sync &amp; E2EE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8387" y="298094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✓ Server-TTS (High Quality)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8387" y="328269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✓ OCEAN-Profil &amp; Signature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8387" y="358444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✓ DPC &amp; PDF-Export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2667" y="46177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Calibri"/>
              </a:defRPr>
            </a:pPr>
            <a:r>
              <a:t>Kein Riemann/SD, DPFL, Kenji/Chloe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118872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E8ECF4"/>
          </a:solidFill>
          <a:ln w="12700"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7307" y="1325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75669"/>
                </a:solidFill>
                <a:latin typeface="Calibri"/>
              </a:defRPr>
            </a:pPr>
            <a:r>
              <a:t>Premium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7307" y="16916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Calibri"/>
              </a:defRPr>
            </a:pPr>
            <a:r>
              <a:t>9,90 €/Monat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7307" y="19659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24,90 €/3M · 79,90 €/Jahr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84467" y="2240280"/>
            <a:ext cx="2057400" cy="12700"/>
          </a:xfrm>
          <a:prstGeom prst="rect">
            <a:avLst/>
          </a:prstGeom>
          <a:solidFill>
            <a:srgbClr val="475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3027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75669"/>
                </a:solidFill>
                <a:latin typeface="Calibri"/>
              </a:defRPr>
            </a:pPr>
            <a:r>
              <a:t>Alles aus Registered, plus: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3027" y="26791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✓ Kenji &amp; Chloe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3027" y="298094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✓ Riemann-Thomann &amp; Spiral Dynamics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3027" y="328269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✓ DPFL (Adaptive Learning)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3027" y="358444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✓ Comfort 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7307" y="46177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Calibri"/>
              </a:defRPr>
            </a:pPr>
            <a:r>
              <a:t>Kein Rob/Victor, Transcript Eval, PEP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44787" y="118872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1947" y="1325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1947" y="16916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Calibri"/>
              </a:defRPr>
            </a:pPr>
            <a:r>
              <a:t>Durch Coach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1947" y="19659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Nicht käuflich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19107" y="2240280"/>
            <a:ext cx="2057400" cy="127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7667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Calibri"/>
              </a:defRPr>
            </a:pPr>
            <a:r>
              <a:t>Alles aus Premium, plus: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7667" y="26791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✓ Rob &amp; Victor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27667" y="298094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✓ Transcript Evaluation &amp; PDF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27667" y="328269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✓ Bot-Empfehlungen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27667" y="358444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✓ PEP Lösungsblockaden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1947" y="46177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Calibri"/>
              </a:defRPr>
            </a:pPr>
            <a:r>
              <a:t>Vollzugang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2964027" y="5303520"/>
            <a:ext cx="457200" cy="274320"/>
          </a:xfrm>
          <a:prstGeom prst="rightArrow">
            <a:avLst/>
          </a:prstGeom>
          <a:solidFill>
            <a:srgbClr val="1B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5798667" y="5303520"/>
            <a:ext cx="457200" cy="274320"/>
          </a:xfrm>
          <a:prstGeom prst="rightArrow">
            <a:avLst/>
          </a:prstGeom>
          <a:solidFill>
            <a:srgbClr val="1B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8633307" y="5303520"/>
            <a:ext cx="457200" cy="274320"/>
          </a:xfrm>
          <a:prstGeom prst="rightArrow">
            <a:avLst/>
          </a:prstGeom>
          <a:solidFill>
            <a:srgbClr val="1B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62355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Guest → Registered → Premium → Client  |  Natürlicher Upgrade-Pfad durch erlebten Mehrwert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Bot-Kategorien — Bronze · Silver · Gold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3727" y="1188720"/>
            <a:ext cx="3474720" cy="4846320"/>
          </a:xfrm>
          <a:prstGeom prst="roundRect">
            <a:avLst>
              <a:gd name="adj" fmla="val 10000"/>
            </a:avLst>
          </a:prstGeom>
          <a:solidFill>
            <a:srgbClr val="FDF0E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887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D7F32"/>
                </a:solidFill>
                <a:latin typeface="Calibri"/>
              </a:defRPr>
            </a:pPr>
            <a:r>
              <a:t>Management &amp; Kommunikation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887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Stets verfügbar — Guest-Tier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047" y="2103120"/>
            <a:ext cx="2926079" cy="1270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327" y="2286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Calibri"/>
              </a:defRPr>
            </a:pPr>
            <a:r>
              <a:t>Nobody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257860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GPS-Ansatz, Problemlösung, Kommunikationsanalyse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3154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Calibri"/>
              </a:defRPr>
            </a:pPr>
            <a:r>
              <a:t>Gloria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327" y="34472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Onboarding &amp; Erstgespräch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487" y="1188720"/>
            <a:ext cx="3474720" cy="4846320"/>
          </a:xfrm>
          <a:prstGeom prst="roundRect">
            <a:avLst>
              <a:gd name="adj" fmla="val 10000"/>
            </a:avLst>
          </a:prstGeom>
          <a:solidFill>
            <a:srgbClr val="E8ECF4"/>
          </a:solidFill>
          <a:ln w="12700">
            <a:solidFill>
              <a:srgbClr val="47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5647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75669"/>
                </a:solidFill>
                <a:latin typeface="Calibri"/>
              </a:defRPr>
            </a:pPr>
            <a:r>
              <a:t>Coaching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647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Max &amp; Ava: Guest  |  Kenji &amp; Chloe: Premium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2807" y="2103120"/>
            <a:ext cx="2926079" cy="12700"/>
          </a:xfrm>
          <a:prstGeom prst="rect">
            <a:avLst/>
          </a:prstGeom>
          <a:solidFill>
            <a:srgbClr val="475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7087" y="2286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Calibri"/>
              </a:defRPr>
            </a:pPr>
            <a:r>
              <a:t>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7087" y="257860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Ambitioniert, motivierend, neugierig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7087" y="3154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Calibri"/>
              </a:defRPr>
            </a:pPr>
            <a:r>
              <a:t>Ava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7087" y="34472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Strategisch, entscheidend, organisiert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7087" y="4023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Calibri"/>
              </a:defRPr>
            </a:pPr>
            <a:r>
              <a:t>Kenji 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7087" y="431596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Stoisch, philosophisch, weise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7087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Calibri"/>
              </a:defRPr>
            </a:pPr>
            <a:r>
              <a:t>Chloe 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7087" y="51846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Strukturierte Reflexion, CBT-basiert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3247" y="1188720"/>
            <a:ext cx="3474720" cy="484632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0407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Calibri"/>
              </a:defRPr>
            </a:pPr>
            <a:r>
              <a:t>Exklusiv für Klienten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407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Nur mit manualmode.at Coaching-Beziehung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27567" y="2103120"/>
            <a:ext cx="2926079" cy="127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1847" y="2286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Calibri"/>
              </a:defRPr>
            </a:pPr>
            <a:r>
              <a:t>Rob 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257860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Mentale Fitness, empathisch, achtsam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1847" y="3154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Calibri"/>
              </a:defRPr>
            </a:pPr>
            <a:r>
              <a:t>Victor 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1847" y="34472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Systemisch, analytisch, neutral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🔒 = Erfordert höheren Zugang  |  Einzelne Premium-Bots können für 4,90 € permanent freigeschaltet werden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